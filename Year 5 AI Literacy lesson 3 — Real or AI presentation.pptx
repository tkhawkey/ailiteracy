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7" r:id="rId3"/>
    <p:sldId id="257" r:id="rId4"/>
    <p:sldId id="275" r:id="rId5"/>
    <p:sldId id="258" r:id="rId6"/>
    <p:sldId id="268" r:id="rId7"/>
    <p:sldId id="259" r:id="rId8"/>
    <p:sldId id="267" r:id="rId9"/>
    <p:sldId id="261" r:id="rId10"/>
    <p:sldId id="269" r:id="rId11"/>
    <p:sldId id="260" r:id="rId12"/>
    <p:sldId id="270" r:id="rId13"/>
    <p:sldId id="262" r:id="rId14"/>
    <p:sldId id="271" r:id="rId15"/>
    <p:sldId id="263" r:id="rId16"/>
    <p:sldId id="276" r:id="rId17"/>
    <p:sldId id="264" r:id="rId18"/>
    <p:sldId id="272" r:id="rId19"/>
    <p:sldId id="265" r:id="rId20"/>
    <p:sldId id="273" r:id="rId21"/>
    <p:sldId id="266"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Hawkey" userId="08ec8f98-b212-41aa-958d-0a8b8a1cd96e" providerId="ADAL" clId="{E9924BF9-B736-4A20-905C-D9D0F66D26DF}"/>
    <pc:docChg chg="modSld">
      <pc:chgData name="Thomas Hawkey" userId="08ec8f98-b212-41aa-958d-0a8b8a1cd96e" providerId="ADAL" clId="{E9924BF9-B736-4A20-905C-D9D0F66D26DF}" dt="2026-10-22T09:04:51.083" v="1" actId="2711"/>
      <pc:docMkLst>
        <pc:docMk/>
      </pc:docMkLst>
      <pc:sldChg chg="modSp mod">
        <pc:chgData name="Thomas Hawkey" userId="08ec8f98-b212-41aa-958d-0a8b8a1cd96e" providerId="ADAL" clId="{E9924BF9-B736-4A20-905C-D9D0F66D26DF}" dt="2026-10-22T09:04:51.083" v="1" actId="2711"/>
        <pc:sldMkLst>
          <pc:docMk/>
          <pc:sldMk cId="3474775384" sldId="256"/>
        </pc:sldMkLst>
        <pc:spChg chg="mod">
          <ac:chgData name="Thomas Hawkey" userId="08ec8f98-b212-41aa-958d-0a8b8a1cd96e" providerId="ADAL" clId="{E9924BF9-B736-4A20-905C-D9D0F66D26DF}" dt="2026-10-22T09:04:51.083" v="1" actId="2711"/>
          <ac:spMkLst>
            <pc:docMk/>
            <pc:sldMk cId="3474775384" sldId="256"/>
            <ac:spMk id="2" creationId="{6B551954-BD37-5DDD-626B-B37F821312B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DDCB2-B6A1-43AE-8B91-E9373D65515E}"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B5E1E7-D59E-47FB-89DF-92A107235453}" type="slidenum">
              <a:rPr lang="en-GB" smtClean="0"/>
              <a:t>‹#›</a:t>
            </a:fld>
            <a:endParaRPr lang="en-GB"/>
          </a:p>
        </p:txBody>
      </p:sp>
    </p:spTree>
    <p:extLst>
      <p:ext uri="{BB962C8B-B14F-4D97-AF65-F5344CB8AC3E}">
        <p14:creationId xmlns:p14="http://schemas.microsoft.com/office/powerpoint/2010/main" val="3364288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DB5E1E7-D59E-47FB-89DF-92A107235453}" type="slidenum">
              <a:rPr lang="en-GB" smtClean="0"/>
              <a:t>1</a:t>
            </a:fld>
            <a:endParaRPr lang="en-GB"/>
          </a:p>
        </p:txBody>
      </p:sp>
    </p:spTree>
    <p:extLst>
      <p:ext uri="{BB962C8B-B14F-4D97-AF65-F5344CB8AC3E}">
        <p14:creationId xmlns:p14="http://schemas.microsoft.com/office/powerpoint/2010/main" val="1349413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BB273-0704-E64D-D21A-6B07850ABD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1834F2E-BD94-42E0-57C2-7B619D2A1F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73E89E1-8CEB-C264-9EE7-8DB8733D09C5}"/>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5" name="Footer Placeholder 4">
            <a:extLst>
              <a:ext uri="{FF2B5EF4-FFF2-40B4-BE49-F238E27FC236}">
                <a16:creationId xmlns:a16="http://schemas.microsoft.com/office/drawing/2014/main" id="{6A7F6594-C2CB-AD66-03FC-762B778218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95978B-270A-C1E9-CC64-7C103E7587DF}"/>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3971891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07863-36B0-55C2-F805-15B941CB283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8AC5BBA-7A03-80CC-CCDB-3721133D4A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BF07AD-0849-0664-33A6-8E58400E3AE2}"/>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5" name="Footer Placeholder 4">
            <a:extLst>
              <a:ext uri="{FF2B5EF4-FFF2-40B4-BE49-F238E27FC236}">
                <a16:creationId xmlns:a16="http://schemas.microsoft.com/office/drawing/2014/main" id="{E68206F4-E3F2-67DE-730D-74DBF2B915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52CFA2-D676-B5BF-BDF2-80D9B3BF8D80}"/>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3564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4D972-A23B-D397-B7DD-C16F7C64C5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A512AB0-815D-B5AB-6DBE-C6247BFB12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C54D55-3937-2C12-2606-2055953C9810}"/>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5" name="Footer Placeholder 4">
            <a:extLst>
              <a:ext uri="{FF2B5EF4-FFF2-40B4-BE49-F238E27FC236}">
                <a16:creationId xmlns:a16="http://schemas.microsoft.com/office/drawing/2014/main" id="{68581EA2-A003-D451-D7E9-D7A8D45E2A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83AD603-30BD-8572-C058-B83B557EAB51}"/>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1139378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CFC63-95BF-350A-D00A-FEF5620E190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62A38B2-6D75-C6F8-D95A-3781707AB9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4878738-7990-4D1D-1ABA-49D69DC836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85025A5-9476-56A9-441B-8EA27F52498D}"/>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6" name="Footer Placeholder 5">
            <a:extLst>
              <a:ext uri="{FF2B5EF4-FFF2-40B4-BE49-F238E27FC236}">
                <a16:creationId xmlns:a16="http://schemas.microsoft.com/office/drawing/2014/main" id="{9AA79B38-6336-BA2A-B263-9A815EA7EF5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CB34719-2BE3-4428-AF23-41A0BAA493B7}"/>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3335436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44A40-AA7C-F4AC-AD85-2D43D76BDC0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FD3C849-EBBF-C1D3-F8AE-7FD6848FD2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CB5491-65FC-6B65-8E74-4D4121DF2E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94ADCF9-3279-E10B-D993-2B0B4FFEE4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791252-AA5A-E16B-3D3C-8E49068FBE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7EC4739-F71C-98F9-6509-EE56D7336C59}"/>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8" name="Footer Placeholder 7">
            <a:extLst>
              <a:ext uri="{FF2B5EF4-FFF2-40B4-BE49-F238E27FC236}">
                <a16:creationId xmlns:a16="http://schemas.microsoft.com/office/drawing/2014/main" id="{A5BA1F36-5020-34E2-E6ED-E299D1C97E2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C0772D6-5064-C14A-D8DA-541CF65E311F}"/>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36721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5AD54-A152-B706-CA50-7B4717F07CD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DDD2C1C-1049-AC58-C263-5741108F536D}"/>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4" name="Footer Placeholder 3">
            <a:extLst>
              <a:ext uri="{FF2B5EF4-FFF2-40B4-BE49-F238E27FC236}">
                <a16:creationId xmlns:a16="http://schemas.microsoft.com/office/drawing/2014/main" id="{895DEE78-EA33-6A83-D8A6-A50777C5C02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9A36A23-60DA-416D-E4D5-57509B3E2089}"/>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3127393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27D971-ED11-2A87-D8AA-6BDAD980C301}"/>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3" name="Footer Placeholder 2">
            <a:extLst>
              <a:ext uri="{FF2B5EF4-FFF2-40B4-BE49-F238E27FC236}">
                <a16:creationId xmlns:a16="http://schemas.microsoft.com/office/drawing/2014/main" id="{0C253010-E251-C3A8-264B-F4B480EB0BA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F9764DC-9E34-C206-5D74-214D92157D73}"/>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189982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22C6B-47BF-EDFA-C8B3-9D81B305EF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119A6A1-3C16-AFF6-E652-D5A38301F7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1ED80E1-3E17-113A-DB48-EFD3AD4379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CE98D8-7FC2-FAA0-5B11-A27C95A72A13}"/>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6" name="Footer Placeholder 5">
            <a:extLst>
              <a:ext uri="{FF2B5EF4-FFF2-40B4-BE49-F238E27FC236}">
                <a16:creationId xmlns:a16="http://schemas.microsoft.com/office/drawing/2014/main" id="{42E91424-A6D5-1349-048D-F686611E97C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A13B27-EE36-0422-A474-CFF9082C8114}"/>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234828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EB662-7F1A-AAEB-F17B-D78D4047AB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1B3D25D-2C8D-58C9-AE2B-2AD275BBA9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94958AD-5D69-DFB4-EB02-2A6E204A7D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4766C2-6575-8CC0-05DC-602EE42B461A}"/>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6" name="Footer Placeholder 5">
            <a:extLst>
              <a:ext uri="{FF2B5EF4-FFF2-40B4-BE49-F238E27FC236}">
                <a16:creationId xmlns:a16="http://schemas.microsoft.com/office/drawing/2014/main" id="{01C38EBA-A004-2B71-B7FD-28B1171E329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F48F473-3747-902B-8E26-42AC9C40F840}"/>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352870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1AD23-462F-E871-9EF8-D95F98A136C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7DA2585-1DD1-E84D-71E5-A992BD6D3D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B9D1A8-4C02-947A-E7C3-54A2A2EBE2EA}"/>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5" name="Footer Placeholder 4">
            <a:extLst>
              <a:ext uri="{FF2B5EF4-FFF2-40B4-BE49-F238E27FC236}">
                <a16:creationId xmlns:a16="http://schemas.microsoft.com/office/drawing/2014/main" id="{5688EBD1-FF92-D485-BB00-FF951DF0B6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784AB4-328D-C76B-C263-023936A9E2F6}"/>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4164844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C981FF-9F91-3056-E8D3-F15483D2DA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EC75CEB-EA9D-160B-043E-061B99DD33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2C984A-B3C7-1088-2AA0-ABA2E139A8CE}"/>
              </a:ext>
            </a:extLst>
          </p:cNvPr>
          <p:cNvSpPr>
            <a:spLocks noGrp="1"/>
          </p:cNvSpPr>
          <p:nvPr>
            <p:ph type="dt" sz="half" idx="10"/>
          </p:nvPr>
        </p:nvSpPr>
        <p:spPr/>
        <p:txBody>
          <a:bodyPr/>
          <a:lstStyle/>
          <a:p>
            <a:fld id="{FB2F2CD5-46A4-4D2C-BAAC-7AFE0756EA23}" type="datetimeFigureOut">
              <a:rPr lang="en-GB" smtClean="0"/>
              <a:t>22/10/2026</a:t>
            </a:fld>
            <a:endParaRPr lang="en-GB"/>
          </a:p>
        </p:txBody>
      </p:sp>
      <p:sp>
        <p:nvSpPr>
          <p:cNvPr id="5" name="Footer Placeholder 4">
            <a:extLst>
              <a:ext uri="{FF2B5EF4-FFF2-40B4-BE49-F238E27FC236}">
                <a16:creationId xmlns:a16="http://schemas.microsoft.com/office/drawing/2014/main" id="{67B0755E-93FB-843C-7256-4826F51B862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7A654C-DD1F-3097-908B-30F992CF8C42}"/>
              </a:ext>
            </a:extLst>
          </p:cNvPr>
          <p:cNvSpPr>
            <a:spLocks noGrp="1"/>
          </p:cNvSpPr>
          <p:nvPr>
            <p:ph type="sldNum" sz="quarter" idx="12"/>
          </p:nvPr>
        </p:nvSpPr>
        <p:spPr/>
        <p:txBody>
          <a:bodyPr/>
          <a:lstStyle/>
          <a:p>
            <a:fld id="{1E6A2E67-278C-448B-B658-DB6367768838}" type="slidenum">
              <a:rPr lang="en-GB" smtClean="0"/>
              <a:t>‹#›</a:t>
            </a:fld>
            <a:endParaRPr lang="en-GB"/>
          </a:p>
        </p:txBody>
      </p:sp>
    </p:spTree>
    <p:extLst>
      <p:ext uri="{BB962C8B-B14F-4D97-AF65-F5344CB8AC3E}">
        <p14:creationId xmlns:p14="http://schemas.microsoft.com/office/powerpoint/2010/main" val="153790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7EAB78-E758-D758-33C4-B61D69E7CD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E0690F4-A82F-292F-DACF-F06A85F57D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3A57AD6-8207-23D4-0EEB-BE16A0BE14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2F2CD5-46A4-4D2C-BAAC-7AFE0756EA23}" type="datetimeFigureOut">
              <a:rPr lang="en-GB" smtClean="0"/>
              <a:t>22/10/2026</a:t>
            </a:fld>
            <a:endParaRPr lang="en-GB"/>
          </a:p>
        </p:txBody>
      </p:sp>
      <p:sp>
        <p:nvSpPr>
          <p:cNvPr id="5" name="Footer Placeholder 4">
            <a:extLst>
              <a:ext uri="{FF2B5EF4-FFF2-40B4-BE49-F238E27FC236}">
                <a16:creationId xmlns:a16="http://schemas.microsoft.com/office/drawing/2014/main" id="{3379175F-3867-461D-E8C0-C3853634AD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2D54798-FE37-3239-44FD-1695A9F658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6A2E67-278C-448B-B658-DB6367768838}" type="slidenum">
              <a:rPr lang="en-GB" smtClean="0"/>
              <a:t>‹#›</a:t>
            </a:fld>
            <a:endParaRPr lang="en-GB"/>
          </a:p>
        </p:txBody>
      </p:sp>
    </p:spTree>
    <p:extLst>
      <p:ext uri="{BB962C8B-B14F-4D97-AF65-F5344CB8AC3E}">
        <p14:creationId xmlns:p14="http://schemas.microsoft.com/office/powerpoint/2010/main" val="4266340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51954-BD37-5DDD-626B-B37F821312B2}"/>
              </a:ext>
            </a:extLst>
          </p:cNvPr>
          <p:cNvSpPr>
            <a:spLocks noGrp="1"/>
          </p:cNvSpPr>
          <p:nvPr>
            <p:ph type="ctrTitle"/>
          </p:nvPr>
        </p:nvSpPr>
        <p:spPr/>
        <p:txBody>
          <a:bodyPr/>
          <a:lstStyle/>
          <a:p>
            <a:r>
              <a:rPr lang="en-GB" b="1" dirty="0">
                <a:latin typeface="Amasis MT Pro Black" panose="02040A04050005020304" pitchFamily="18" charset="0"/>
              </a:rPr>
              <a:t>Real or AI?</a:t>
            </a:r>
          </a:p>
        </p:txBody>
      </p:sp>
      <p:sp>
        <p:nvSpPr>
          <p:cNvPr id="3" name="Subtitle 2">
            <a:extLst>
              <a:ext uri="{FF2B5EF4-FFF2-40B4-BE49-F238E27FC236}">
                <a16:creationId xmlns:a16="http://schemas.microsoft.com/office/drawing/2014/main" id="{208655ED-9A27-6D30-8ED7-41EB39A30289}"/>
              </a:ext>
            </a:extLst>
          </p:cNvPr>
          <p:cNvSpPr>
            <a:spLocks noGrp="1"/>
          </p:cNvSpPr>
          <p:nvPr>
            <p:ph type="subTitle" idx="1"/>
          </p:nvPr>
        </p:nvSpPr>
        <p:spPr/>
        <p:txBody>
          <a:bodyPr/>
          <a:lstStyle/>
          <a:p>
            <a:r>
              <a:rPr lang="en-GB" i="1" dirty="0"/>
              <a:t>Can you sort the real photos from the fakes?</a:t>
            </a:r>
          </a:p>
        </p:txBody>
      </p:sp>
    </p:spTree>
    <p:extLst>
      <p:ext uri="{BB962C8B-B14F-4D97-AF65-F5344CB8AC3E}">
        <p14:creationId xmlns:p14="http://schemas.microsoft.com/office/powerpoint/2010/main" val="3474775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074" name="Picture 2">
            <a:extLst>
              <a:ext uri="{FF2B5EF4-FFF2-40B4-BE49-F238E27FC236}">
                <a16:creationId xmlns:a16="http://schemas.microsoft.com/office/drawing/2014/main" id="{2A7C0522-AF06-F19D-04BE-934C64913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616"/>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811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Frog photo - Option 1">
            <a:extLst>
              <a:ext uri="{FF2B5EF4-FFF2-40B4-BE49-F238E27FC236}">
                <a16:creationId xmlns:a16="http://schemas.microsoft.com/office/drawing/2014/main" id="{E44FD838-BD81-10A5-9FEE-9E6745591E1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1760" y="98425"/>
            <a:ext cx="5935133"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lue frog photo - Option 2">
            <a:extLst>
              <a:ext uri="{FF2B5EF4-FFF2-40B4-BE49-F238E27FC236}">
                <a16:creationId xmlns:a16="http://schemas.microsoft.com/office/drawing/2014/main" id="{3AD6B438-0A8B-3378-E778-E3DBE756AC5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45105" y="98425"/>
            <a:ext cx="5935134" cy="44513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1BAC239-3DEA-6413-A7BD-7FB3768C4BFF}"/>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AI images love super bright </a:t>
            </a:r>
            <a:r>
              <a:rPr lang="en-US" sz="2400" dirty="0" err="1">
                <a:latin typeface="Setup Serif" pitchFamily="50" charset="0"/>
                <a:ea typeface="Setup Serif" pitchFamily="50" charset="0"/>
              </a:rPr>
              <a:t>colours</a:t>
            </a:r>
            <a:r>
              <a:rPr lang="en-US" sz="2400" dirty="0">
                <a:latin typeface="Setup Serif" pitchFamily="50" charset="0"/>
                <a:ea typeface="Setup Serif" pitchFamily="50" charset="0"/>
              </a:rPr>
              <a:t>. But watch out! Some real creatures, like poisonous frogs, are naturally vibrant. You can't guess by </a:t>
            </a:r>
            <a:r>
              <a:rPr lang="en-US" sz="2400" dirty="0" err="1">
                <a:latin typeface="Setup Serif" pitchFamily="50" charset="0"/>
                <a:ea typeface="Setup Serif" pitchFamily="50" charset="0"/>
              </a:rPr>
              <a:t>colour</a:t>
            </a:r>
            <a:r>
              <a:rPr lang="en-US" sz="2400" dirty="0">
                <a:latin typeface="Setup Serif" pitchFamily="50" charset="0"/>
                <a:ea typeface="Setup Serif" pitchFamily="50" charset="0"/>
              </a:rPr>
              <a:t> alone.</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946456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D7B66D-AAEA-315E-CB22-D00E727CC29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4B35ADA-EC55-37BF-FA45-2939061CC768}"/>
              </a:ext>
            </a:extLst>
          </p:cNvPr>
          <p:cNvPicPr>
            <a:picLocks noChangeAspect="1"/>
          </p:cNvPicPr>
          <p:nvPr/>
        </p:nvPicPr>
        <p:blipFill>
          <a:blip r:embed="rId2"/>
          <a:stretch>
            <a:fillRect/>
          </a:stretch>
        </p:blipFill>
        <p:spPr>
          <a:xfrm>
            <a:off x="138854" y="132080"/>
            <a:ext cx="11914293" cy="4467858"/>
          </a:xfrm>
          <a:prstGeom prst="rect">
            <a:avLst/>
          </a:prstGeom>
        </p:spPr>
      </p:pic>
      <p:sp>
        <p:nvSpPr>
          <p:cNvPr id="2" name="TextBox 1">
            <a:extLst>
              <a:ext uri="{FF2B5EF4-FFF2-40B4-BE49-F238E27FC236}">
                <a16:creationId xmlns:a16="http://schemas.microsoft.com/office/drawing/2014/main" id="{0661DCD3-5BD3-E930-77AF-EF774269835E}"/>
              </a:ext>
            </a:extLst>
          </p:cNvPr>
          <p:cNvSpPr txBox="1"/>
          <p:nvPr/>
        </p:nvSpPr>
        <p:spPr>
          <a:xfrm>
            <a:off x="111760" y="4826000"/>
            <a:ext cx="11968479" cy="1200329"/>
          </a:xfrm>
          <a:prstGeom prst="rect">
            <a:avLst/>
          </a:prstGeom>
          <a:noFill/>
        </p:spPr>
        <p:txBody>
          <a:bodyPr wrap="square" rtlCol="0">
            <a:spAutoFit/>
          </a:bodyPr>
          <a:lstStyle/>
          <a:p>
            <a:r>
              <a:rPr lang="en-GB" sz="2400" dirty="0"/>
              <a:t>Even though the AI picture has brighter </a:t>
            </a:r>
            <a:r>
              <a:rPr lang="en-GB" sz="2400" dirty="0" err="1"/>
              <a:t>colors</a:t>
            </a:r>
            <a:r>
              <a:rPr lang="en-GB" sz="2400" dirty="0"/>
              <a:t>, there is a better way to spot the real photo: look closely at the frog's skin! The real frog has tiny, detailed patterns and unique spots. The AI frog looks a bit too perfect and has much simpler spots.</a:t>
            </a:r>
          </a:p>
        </p:txBody>
      </p:sp>
    </p:spTree>
    <p:extLst>
      <p:ext uri="{BB962C8B-B14F-4D97-AF65-F5344CB8AC3E}">
        <p14:creationId xmlns:p14="http://schemas.microsoft.com/office/powerpoint/2010/main" val="473550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6103CD-C96B-4021-14C8-183EEE6C3C39}"/>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D8A73E60-A3FE-EDB6-8063-4F7BC0A5F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4AB1907-348A-CD5B-5CAA-23E1DCF3C0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3" cy="44513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F9900C5-81D9-A83C-06D8-E2B29589D52D}"/>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Old history photos should look old. Look for faded </a:t>
            </a:r>
            <a:r>
              <a:rPr lang="en-US" sz="2400" dirty="0" err="1">
                <a:latin typeface="Setup Serif" pitchFamily="50" charset="0"/>
                <a:ea typeface="Setup Serif" pitchFamily="50" charset="0"/>
              </a:rPr>
              <a:t>colours</a:t>
            </a:r>
            <a:r>
              <a:rPr lang="en-US" sz="2400" dirty="0">
                <a:latin typeface="Setup Serif" pitchFamily="50" charset="0"/>
                <a:ea typeface="Setup Serif" pitchFamily="50" charset="0"/>
              </a:rPr>
              <a:t> or a brown tint. AI struggles to make old photo styles look real.</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3386228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A4FA9E-97AA-23AB-B213-5F87E0BBFA4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2DBCBA-3303-8CEF-1B12-58CABB835B1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8"/>
          </a:xfrm>
          <a:prstGeom prst="rect">
            <a:avLst/>
          </a:prstGeom>
        </p:spPr>
      </p:pic>
      <p:sp>
        <p:nvSpPr>
          <p:cNvPr id="2" name="TextBox 1">
            <a:extLst>
              <a:ext uri="{FF2B5EF4-FFF2-40B4-BE49-F238E27FC236}">
                <a16:creationId xmlns:a16="http://schemas.microsoft.com/office/drawing/2014/main" id="{EE690D63-28D2-65DB-8D05-175B26262AC6}"/>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Count the parts! The real Titanic had one tall pole (a mast) and four chimneys. The AI drew three of each. Also, the AI's sunbeams magically shine right through the middle of the dark ship.</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1884196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625BB1-DA86-C21A-9FF4-C69CAF158AAB}"/>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1FDC0999-06F7-37FD-841C-6C31B1E15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46CC36C-BD4C-ACA7-8BA5-604BA8AC14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3" cy="44513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62A2755-4457-0B5E-C14C-A0C59AE1C267}"/>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AI is still learning how to draw humans. It regularly messes up the tricky parts, like your arms, fingers, and toes.</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3840752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441177-5D19-E104-EA15-BF81350EF2D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8"/>
          </a:xfrm>
          <a:prstGeom prst="rect">
            <a:avLst/>
          </a:prstGeom>
        </p:spPr>
      </p:pic>
      <p:sp>
        <p:nvSpPr>
          <p:cNvPr id="5" name="TextBox 4">
            <a:extLst>
              <a:ext uri="{FF2B5EF4-FFF2-40B4-BE49-F238E27FC236}">
                <a16:creationId xmlns:a16="http://schemas.microsoft.com/office/drawing/2014/main" id="{A568C7E8-F044-55F6-0C15-13B8B92DA54F}"/>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Look closely at the hands. Do you see how some arms look like they are in the wrong place, or completely missing? Some hands don't even belong to the child next to them.</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197629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7EFFCC-5685-1D37-F8D4-6945B1D683F1}"/>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BA24FBA6-5AD4-289B-2BE7-B8FB815177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B29AB0E-EC3C-2EBC-6ACA-F5702EB26E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2" cy="44513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43EC681-0F15-12E3-A4DD-0744C43C9B74}"/>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This one is tricky! Both pictures of Japan's highest mountain look beautiful and very real. Even the water reflections look good.</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272561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40033D-CD3C-EA33-B8E1-210BF5A31FA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13704ED-2E91-5CEE-DD46-1724B32F67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8"/>
          </a:xfrm>
          <a:prstGeom prst="rect">
            <a:avLst/>
          </a:prstGeom>
        </p:spPr>
      </p:pic>
      <p:sp>
        <p:nvSpPr>
          <p:cNvPr id="2" name="TextBox 1">
            <a:extLst>
              <a:ext uri="{FF2B5EF4-FFF2-40B4-BE49-F238E27FC236}">
                <a16:creationId xmlns:a16="http://schemas.microsoft.com/office/drawing/2014/main" id="{C5FBF45E-6A61-1A8E-F1B6-AEE446C42070}"/>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AI likes to add fake trees to make scenes look pretty. But if you check the real photo, you'll see crisp details in the leaves, while the AI ones look blurry and repeated.</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429219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8C09C8-2138-C647-7C15-13C22A28B050}"/>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077C5094-1C73-44F7-9AF9-0546419DC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628EB628-A3B8-17F4-F0A8-34FFB1BE94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2" cy="44513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DE298A4-553F-189C-DF17-86BACF18E827}"/>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At first glance, these rocket launches look exactly the same. The clouds and bright lights make it hard to tell them apart.</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211108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8E2616-9134-C00F-8707-2C1A9322E33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16A0874-A384-674E-DE1B-D7B1ABE991D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7"/>
          </a:xfrm>
          <a:prstGeom prst="rect">
            <a:avLst/>
          </a:prstGeom>
        </p:spPr>
      </p:pic>
      <p:sp>
        <p:nvSpPr>
          <p:cNvPr id="2" name="TextBox 1">
            <a:extLst>
              <a:ext uri="{FF2B5EF4-FFF2-40B4-BE49-F238E27FC236}">
                <a16:creationId xmlns:a16="http://schemas.microsoft.com/office/drawing/2014/main" id="{A9AC3ED1-9747-1653-90E2-0366E0EF6E5F}"/>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Zoom right in on the space shuttle. The AI spaceship looks smooth like a toy, but the real one has lots of complicated lines, bumps, and shadows.</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760932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3B2DB7-80B9-0196-DE1A-EC2EC89C3B54}"/>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8D92AAF1-565D-7796-BEDB-3A73C4A09E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A57DF563-3327-E236-19D8-82F24AAEE8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2" cy="44513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5FE373A-BB7E-FA15-A9BF-86D3DE79BE13}"/>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Big cities at night are hard to judge. Both the real photo and the AI photo have great lights and shadows.</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767680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F55751-F1DA-FE80-4D49-69A7947C87B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A1C88B3-9D14-DFD6-77F9-8A2740DD60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8"/>
          </a:xfrm>
          <a:prstGeom prst="rect">
            <a:avLst/>
          </a:prstGeom>
        </p:spPr>
      </p:pic>
      <p:sp>
        <p:nvSpPr>
          <p:cNvPr id="2" name="TextBox 1">
            <a:extLst>
              <a:ext uri="{FF2B5EF4-FFF2-40B4-BE49-F238E27FC236}">
                <a16:creationId xmlns:a16="http://schemas.microsoft.com/office/drawing/2014/main" id="{FF2128CF-C92E-4A02-8B51-255370C02C60}"/>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Check the shapes of the buildings and mountains. A quick online search of the real Hong Kong shows that the AI got the building heights wrong, and real mountains are much more uneven.</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555728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620CE6-E1AE-CDDD-CA2C-75D2DC0E716F}"/>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6933BEA6-2B54-5165-442A-C10F6E670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F8680006-D549-5A8D-D801-2180DCBAB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2" cy="44513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9004688-77E0-E6E3-FFDB-6E26CEB92369}"/>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Spotting AI in nature is a huge challenge. If you have never seen the glowing Northern Lights in person, it is hard to know what is real and what is fantasy.</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3935766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A863D1-A7DA-4B07-46C6-A7307A08893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AC899FE-1689-C140-63E2-06B23C1FC98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7"/>
          </a:xfrm>
          <a:prstGeom prst="rect">
            <a:avLst/>
          </a:prstGeom>
        </p:spPr>
      </p:pic>
      <p:sp>
        <p:nvSpPr>
          <p:cNvPr id="2" name="TextBox 1">
            <a:extLst>
              <a:ext uri="{FF2B5EF4-FFF2-40B4-BE49-F238E27FC236}">
                <a16:creationId xmlns:a16="http://schemas.microsoft.com/office/drawing/2014/main" id="{CFE0C3DD-EA20-17FF-DD9B-6A01E24D41F8}"/>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Turn your eyes to the water. In your real photo, the reflection mirrors the sky perfectly. In the AI photo, the computer just splashed messy pink and green paint into the water.</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3290385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64D54A-1C3C-C8D8-9689-CCF08AC9B8F2}"/>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8FB3E0B6-CA63-AC07-A4F1-D89752EA27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4475795D-1704-3320-6427-6371FFD18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2" cy="44513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41661C6-94AD-8F13-9D4D-BAED79924E27}"/>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It is hard to spot AI errors on a rare animal you've never seen before, like a scaly pangolin. Because it's unfamiliar to you, you might not know what its body is supposed to look like.</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2253478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376D28-CC6E-6D3C-C225-2F3993B02C4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55CB739-027B-55CA-3983-BC2DD0627A6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7"/>
          </a:xfrm>
          <a:prstGeom prst="rect">
            <a:avLst/>
          </a:prstGeom>
        </p:spPr>
      </p:pic>
      <p:sp>
        <p:nvSpPr>
          <p:cNvPr id="2" name="TextBox 1">
            <a:extLst>
              <a:ext uri="{FF2B5EF4-FFF2-40B4-BE49-F238E27FC236}">
                <a16:creationId xmlns:a16="http://schemas.microsoft.com/office/drawing/2014/main" id="{A4316B0E-7697-D375-E886-58734FFB6480}"/>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Look past the cool scales and check the face. AI struggles with animal eyes, making them look blank. Also, check the body shapes—do the legs look way too big for the head?</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3793116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2C77A9-DA70-3AD2-0468-1B314CDA6AB8}"/>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E40F44F2-FB12-8EC1-1995-9C1B57A11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9B2A28D0-2189-27F4-F520-261393896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2" cy="44513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85EA68A-0360-D746-4324-BED4867B8295}"/>
              </a:ext>
            </a:extLst>
          </p:cNvPr>
          <p:cNvSpPr txBox="1"/>
          <p:nvPr/>
        </p:nvSpPr>
        <p:spPr>
          <a:xfrm>
            <a:off x="111760" y="4826000"/>
            <a:ext cx="11968479" cy="830997"/>
          </a:xfrm>
          <a:prstGeom prst="rect">
            <a:avLst/>
          </a:prstGeom>
          <a:noFill/>
        </p:spPr>
        <p:txBody>
          <a:bodyPr wrap="square" rtlCol="0">
            <a:spAutoFit/>
          </a:bodyPr>
          <a:lstStyle/>
          <a:p>
            <a:pPr algn="just"/>
            <a:r>
              <a:rPr lang="en-US" sz="2400" dirty="0">
                <a:latin typeface="Setup Serif" pitchFamily="50" charset="0"/>
                <a:ea typeface="Setup Serif" pitchFamily="50" charset="0"/>
              </a:rPr>
              <a:t>AI loves to fake old history papers. Both of these ancient Egyptian scrolls look properly dusty and thousands of years old.</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1951133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51C53B-747B-414B-5F0E-457CD73A3DF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9020AF9-6EB5-8F6D-69E8-46BB0364A3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8"/>
          </a:xfrm>
          <a:prstGeom prst="rect">
            <a:avLst/>
          </a:prstGeom>
        </p:spPr>
      </p:pic>
      <p:sp>
        <p:nvSpPr>
          <p:cNvPr id="2" name="TextBox 1">
            <a:extLst>
              <a:ext uri="{FF2B5EF4-FFF2-40B4-BE49-F238E27FC236}">
                <a16:creationId xmlns:a16="http://schemas.microsoft.com/office/drawing/2014/main" id="{EAD3B7CB-13E0-1F65-DB27-C2AE1F847921}"/>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Look at the painted people! Zoom in and you will see floating arms and missing hands. Also, look at the picture-writing (hieroglyphs)—the AI just made up fake symbols that mean nothing.</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3725098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B2E929-3D76-23D1-7FA8-B580A7F1D4D4}"/>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1796F4DD-6C0D-9263-61EA-A48883047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11760" y="98425"/>
            <a:ext cx="5935132" cy="445134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6D8E4CB0-1EAD-7A74-3B35-3617E6C58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145105" y="98425"/>
            <a:ext cx="5935132" cy="44513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76BF7F2-5734-5F2E-C74F-61E6AA82349A}"/>
              </a:ext>
            </a:extLst>
          </p:cNvPr>
          <p:cNvSpPr txBox="1"/>
          <p:nvPr/>
        </p:nvSpPr>
        <p:spPr>
          <a:xfrm>
            <a:off x="111760" y="4826000"/>
            <a:ext cx="11968479" cy="830997"/>
          </a:xfrm>
          <a:prstGeom prst="rect">
            <a:avLst/>
          </a:prstGeom>
          <a:noFill/>
        </p:spPr>
        <p:txBody>
          <a:bodyPr wrap="square" rtlCol="0">
            <a:spAutoFit/>
          </a:bodyPr>
          <a:lstStyle/>
          <a:p>
            <a:pPr algn="just"/>
            <a:r>
              <a:rPr lang="en-GB" sz="2400" dirty="0">
                <a:latin typeface="Setup Serif" pitchFamily="50" charset="0"/>
                <a:ea typeface="Setup Serif" pitchFamily="50" charset="0"/>
              </a:rPr>
              <a:t>You can spot the fake here by looking closely at the people and the signs they are holding up.</a:t>
            </a:r>
            <a:endParaRPr lang="en-GB" sz="3200" dirty="0">
              <a:latin typeface="Setup Serif" pitchFamily="50" charset="0"/>
              <a:ea typeface="Setup Serif" pitchFamily="50" charset="0"/>
            </a:endParaRPr>
          </a:p>
        </p:txBody>
      </p:sp>
    </p:spTree>
    <p:extLst>
      <p:ext uri="{BB962C8B-B14F-4D97-AF65-F5344CB8AC3E}">
        <p14:creationId xmlns:p14="http://schemas.microsoft.com/office/powerpoint/2010/main" val="3042005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E906F9-E5C3-2898-DC5F-082F8F1CBEC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F7640CB-DA11-540A-E324-B2701B3D81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068" y="132080"/>
            <a:ext cx="11899864" cy="4467857"/>
          </a:xfrm>
          <a:prstGeom prst="rect">
            <a:avLst/>
          </a:prstGeom>
        </p:spPr>
      </p:pic>
      <p:sp>
        <p:nvSpPr>
          <p:cNvPr id="2" name="TextBox 1">
            <a:extLst>
              <a:ext uri="{FF2B5EF4-FFF2-40B4-BE49-F238E27FC236}">
                <a16:creationId xmlns:a16="http://schemas.microsoft.com/office/drawing/2014/main" id="{D76148C4-5325-F052-D2DF-2AD5254A58FC}"/>
              </a:ext>
            </a:extLst>
          </p:cNvPr>
          <p:cNvSpPr txBox="1"/>
          <p:nvPr/>
        </p:nvSpPr>
        <p:spPr>
          <a:xfrm>
            <a:off x="111760" y="4826000"/>
            <a:ext cx="11968479" cy="1200329"/>
          </a:xfrm>
          <a:prstGeom prst="rect">
            <a:avLst/>
          </a:prstGeom>
          <a:noFill/>
        </p:spPr>
        <p:txBody>
          <a:bodyPr wrap="square" rtlCol="0">
            <a:spAutoFit/>
          </a:bodyPr>
          <a:lstStyle/>
          <a:p>
            <a:pPr algn="just"/>
            <a:r>
              <a:rPr lang="en-US" sz="2400" dirty="0">
                <a:latin typeface="Setup Serif" pitchFamily="50" charset="0"/>
                <a:ea typeface="Setup Serif" pitchFamily="50" charset="0"/>
              </a:rPr>
              <a:t>Have a look at the women's hats and hair—the AI made them look blurry. Then look at the text on their signs. The letters are jumbled up, messy, and spell out completely fake words that make no sense!</a:t>
            </a:r>
            <a:endParaRPr lang="en-GB" sz="2400" dirty="0">
              <a:latin typeface="Setup Serif" pitchFamily="50" charset="0"/>
              <a:ea typeface="Setup Serif" pitchFamily="50" charset="0"/>
            </a:endParaRPr>
          </a:p>
        </p:txBody>
      </p:sp>
    </p:spTree>
    <p:extLst>
      <p:ext uri="{BB962C8B-B14F-4D97-AF65-F5344CB8AC3E}">
        <p14:creationId xmlns:p14="http://schemas.microsoft.com/office/powerpoint/2010/main" val="727187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998</TotalTime>
  <Words>682</Words>
  <Application>Microsoft Office PowerPoint</Application>
  <PresentationFormat>Widescreen</PresentationFormat>
  <Paragraphs>23</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Amasis MT Pro Black</vt:lpstr>
      <vt:lpstr>Aptos</vt:lpstr>
      <vt:lpstr>Aptos Display</vt:lpstr>
      <vt:lpstr>Arial</vt:lpstr>
      <vt:lpstr>Setup Serif</vt:lpstr>
      <vt:lpstr>Office Theme</vt:lpstr>
      <vt:lpstr>Real or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Hawkey</dc:creator>
  <cp:lastModifiedBy>Thomas Hawkey</cp:lastModifiedBy>
  <cp:revision>3</cp:revision>
  <dcterms:created xsi:type="dcterms:W3CDTF">2026-05-25T13:20:59Z</dcterms:created>
  <dcterms:modified xsi:type="dcterms:W3CDTF">2026-10-22T09:04:56Z</dcterms:modified>
</cp:coreProperties>
</file>